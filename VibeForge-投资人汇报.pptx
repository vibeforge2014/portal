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86868B"/>
                </a:solidFill>
                <a:latin typeface="Helvetica Neue"/>
                <a:ea typeface="PingFang SC"/>
              </a:rPr>
              <a:t>能力覆盖（%，定性评估）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ChargePilot</c:v>
                </c:pt>
              </c:strCache>
            </c:strRef>
          </c:tx>
          <c:spPr>
            <a:solidFill>
              <a:srgbClr val="0071E3"/>
            </a:solidFill>
          </c:spPr>
          <c:cat>
            <c:strRef>
              <c:f>Sheet1!$A$2:$A$6</c:f>
              <c:strCache>
                <c:ptCount val="5"/>
                <c:pt idx="0">
                  <c:v>限制充电
上限</c:v>
                </c:pt>
                <c:pt idx="1">
                  <c:v>过热
自动停充</c:v>
                </c:pt>
                <c:pt idx="2">
                  <c:v>按场景
自动排程</c:v>
                </c:pt>
                <c:pt idx="3">
                  <c:v>主动
放电</c:v>
                </c:pt>
                <c:pt idx="4">
                  <c:v>电池
校准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AlDente</c:v>
                </c:pt>
              </c:strCache>
            </c:strRef>
          </c:tx>
          <c:spPr>
            <a:solidFill>
              <a:srgbClr val="A6A6AB"/>
            </a:solidFill>
          </c:spPr>
          <c:cat>
            <c:strRef>
              <c:f>Sheet1!$A$2:$A$6</c:f>
              <c:strCache>
                <c:ptCount val="5"/>
                <c:pt idx="0">
                  <c:v>限制充电
上限</c:v>
                </c:pt>
                <c:pt idx="1">
                  <c:v>过热
自动停充</c:v>
                </c:pt>
                <c:pt idx="2">
                  <c:v>按场景
自动排程</c:v>
                </c:pt>
                <c:pt idx="3">
                  <c:v>主动
放电</c:v>
                </c:pt>
                <c:pt idx="4">
                  <c:v>电池
校准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70</c:v>
                </c:pt>
                <c:pt idx="2">
                  <c:v>85</c:v>
                </c:pt>
                <c:pt idx="3">
                  <c:v>100</c:v>
                </c:pt>
                <c:pt idx="4">
                  <c:v>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系统自带</c:v>
                </c:pt>
              </c:strCache>
            </c:strRef>
          </c:tx>
          <c:spPr>
            <a:solidFill>
              <a:srgbClr val="C7C7CC"/>
            </a:solidFill>
          </c:spPr>
          <c:cat>
            <c:strRef>
              <c:f>Sheet1!$A$2:$A$6</c:f>
              <c:strCache>
                <c:ptCount val="5"/>
                <c:pt idx="0">
                  <c:v>限制充电
上限</c:v>
                </c:pt>
                <c:pt idx="1">
                  <c:v>过热
自动停充</c:v>
                </c:pt>
                <c:pt idx="2">
                  <c:v>按场景
自动排程</c:v>
                </c:pt>
                <c:pt idx="3">
                  <c:v>主动
放电</c:v>
                </c:pt>
                <c:pt idx="4">
                  <c:v>电池
校准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40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监控类工具</c:v>
                </c:pt>
              </c:strCache>
            </c:strRef>
          </c:tx>
          <c:spPr>
            <a:solidFill>
              <a:srgbClr val="E5E5EA"/>
            </a:solidFill>
          </c:spPr>
          <c:cat>
            <c:strRef>
              <c:f>Sheet1!$A$2:$A$6</c:f>
              <c:strCache>
                <c:ptCount val="5"/>
                <c:pt idx="0">
                  <c:v>限制充电
上限</c:v>
                </c:pt>
                <c:pt idx="1">
                  <c:v>过热
自动停充</c:v>
                </c:pt>
                <c:pt idx="2">
                  <c:v>按场景
自动排程</c:v>
                </c:pt>
                <c:pt idx="3">
                  <c:v>主动
放电</c:v>
                </c:pt>
                <c:pt idx="4">
                  <c:v>电池
校准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6E6E7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86868B"/>
                </a:solidFill>
                <a:latin typeface="Helvetica Neue"/>
                <a:ea typeface="PingFang SC"/>
              </a:rPr>
              <a:t>Termius 订阅累计花费（按年费约 ¥860 估算）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Termius Pro 订阅</c:v>
                </c:pt>
              </c:strCache>
            </c:strRef>
          </c:tx>
          <c:spPr>
            <a:solidFill>
              <a:srgbClr val="A6A6AB"/>
            </a:solidFill>
          </c:spPr>
          <c:dLbls>
            <c:txPr>
              <a:bodyPr/>
              <a:lstStyle/>
              <a:p>
                <a:pPr>
                  <a:defRPr sz="1000">
                    <a:solidFill>
                      <a:srgbClr val="6E6E7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第 1 年</c:v>
                </c:pt>
                <c:pt idx="1">
                  <c:v>第 2 年</c:v>
                </c:pt>
                <c:pt idx="2">
                  <c:v>第 3 年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860</c:v>
                </c:pt>
                <c:pt idx="1">
                  <c:v>1720</c:v>
                </c:pt>
                <c:pt idx="2">
                  <c:v>2580</c:v>
                </c:pt>
              </c:numCache>
            </c:numRef>
          </c:val>
        </c:ser>
        <c:gapWidth val="1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6E6E7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86868B"/>
                </a:solidFill>
                <a:latin typeface="Helvetica Neue"/>
                <a:ea typeface="PingFang SC"/>
              </a:rPr>
              <a:t>能力覆盖（%，定性评估）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TuneSync</c:v>
                </c:pt>
              </c:strCache>
            </c:strRef>
          </c:tx>
          <c:spPr>
            <a:solidFill>
              <a:srgbClr val="0071E3"/>
            </a:solidFill>
          </c:spPr>
          <c:cat>
            <c:strRef>
              <c:f>Sheet1!$A$2:$A$5</c:f>
              <c:strCache>
                <c:ptCount val="4"/>
                <c:pt idx="0">
                  <c:v>连上 NAS
就能用</c:v>
                </c:pt>
                <c:pt idx="1">
                  <c:v>免费
下载</c:v>
                </c:pt>
                <c:pt idx="2">
                  <c:v>K 歌
模式</c:v>
                </c:pt>
                <c:pt idx="3">
                  <c:v>隐私
不上云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Amperfy</c:v>
                </c:pt>
              </c:strCache>
            </c:strRef>
          </c:tx>
          <c:spPr>
            <a:solidFill>
              <a:srgbClr val="A6A6AB"/>
            </a:solidFill>
          </c:spPr>
          <c:cat>
            <c:strRef>
              <c:f>Sheet1!$A$2:$A$5</c:f>
              <c:strCache>
                <c:ptCount val="4"/>
                <c:pt idx="0">
                  <c:v>连上 NAS
就能用</c:v>
                </c:pt>
                <c:pt idx="1">
                  <c:v>免费
下载</c:v>
                </c:pt>
                <c:pt idx="2">
                  <c:v>K 歌
模式</c:v>
                </c:pt>
                <c:pt idx="3">
                  <c:v>隐私
不上云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100</c:v>
                </c:pt>
                <c:pt idx="2">
                  <c:v>0</c:v>
                </c:pt>
                <c:pt idx="3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Plexamp</c:v>
                </c:pt>
              </c:strCache>
            </c:strRef>
          </c:tx>
          <c:spPr>
            <a:solidFill>
              <a:srgbClr val="C7C7CC"/>
            </a:solidFill>
          </c:spPr>
          <c:cat>
            <c:strRef>
              <c:f>Sheet1!$A$2:$A$5</c:f>
              <c:strCache>
                <c:ptCount val="4"/>
                <c:pt idx="0">
                  <c:v>连上 NAS
就能用</c:v>
                </c:pt>
                <c:pt idx="1">
                  <c:v>免费
下载</c:v>
                </c:pt>
                <c:pt idx="2">
                  <c:v>K 歌
模式</c:v>
                </c:pt>
                <c:pt idx="3">
                  <c:v>隐私
不上云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60</c:v>
                </c:pt>
                <c:pt idx="2">
                  <c:v>0</c:v>
                </c:pt>
                <c:pt idx="3">
                  <c:v>60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Sonora</c:v>
                </c:pt>
              </c:strCache>
            </c:strRef>
          </c:tx>
          <c:spPr>
            <a:solidFill>
              <a:srgbClr val="E5E5EA"/>
            </a:solidFill>
          </c:spPr>
          <c:cat>
            <c:strRef>
              <c:f>Sheet1!$A$2:$A$5</c:f>
              <c:strCache>
                <c:ptCount val="4"/>
                <c:pt idx="0">
                  <c:v>连上 NAS
就能用</c:v>
                </c:pt>
                <c:pt idx="1">
                  <c:v>免费
下载</c:v>
                </c:pt>
                <c:pt idx="2">
                  <c:v>K 歌
模式</c:v>
                </c:pt>
                <c:pt idx="3">
                  <c:v>隐私
不上云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30</c:v>
                </c:pt>
                <c:pt idx="1">
                  <c:v>100</c:v>
                </c:pt>
                <c:pt idx="2">
                  <c:v>0</c:v>
                </c:pt>
                <c:pt idx="3">
                  <c:v>80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6E6E7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0">
                <a:solidFill>
                  <a:srgbClr val="86868B"/>
                </a:solidFill>
                <a:latin typeface="Helvetica Neue"/>
                <a:ea typeface="PingFang SC"/>
              </a:rPr>
              <a:t>能力覆盖（%，定性评估）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MinuteFlow</c:v>
                </c:pt>
              </c:strCache>
            </c:strRef>
          </c:tx>
          <c:spPr>
            <a:solidFill>
              <a:srgbClr val="0071E3"/>
            </a:solidFill>
          </c:spPr>
          <c:cat>
            <c:strRef>
              <c:f>Sheet1!$A$2:$A$5</c:f>
              <c:strCache>
                <c:ptCount val="4"/>
                <c:pt idx="0">
                  <c:v>数据
不上云</c:v>
                </c:pt>
                <c:pt idx="1">
                  <c:v>中文
中英混合</c:v>
                </c:pt>
                <c:pt idx="2">
                  <c:v>一次
买断</c:v>
                </c:pt>
                <c:pt idx="3">
                  <c:v>不绑
生态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飞书妙记</c:v>
                </c:pt>
              </c:strCache>
            </c:strRef>
          </c:tx>
          <c:spPr>
            <a:solidFill>
              <a:srgbClr val="A6A6AB"/>
            </a:solidFill>
          </c:spPr>
          <c:cat>
            <c:strRef>
              <c:f>Sheet1!$A$2:$A$5</c:f>
              <c:strCache>
                <c:ptCount val="4"/>
                <c:pt idx="0">
                  <c:v>数据
不上云</c:v>
                </c:pt>
                <c:pt idx="1">
                  <c:v>中文
中英混合</c:v>
                </c:pt>
                <c:pt idx="2">
                  <c:v>一次
买断</c:v>
                </c:pt>
                <c:pt idx="3">
                  <c:v>不绑
生态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100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Otter</c:v>
                </c:pt>
              </c:strCache>
            </c:strRef>
          </c:tx>
          <c:spPr>
            <a:solidFill>
              <a:srgbClr val="C7C7CC"/>
            </a:solidFill>
          </c:spPr>
          <c:cat>
            <c:strRef>
              <c:f>Sheet1!$A$2:$A$5</c:f>
              <c:strCache>
                <c:ptCount val="4"/>
                <c:pt idx="0">
                  <c:v>数据
不上云</c:v>
                </c:pt>
                <c:pt idx="1">
                  <c:v>中文
中英混合</c:v>
                </c:pt>
                <c:pt idx="2">
                  <c:v>一次
买断</c:v>
                </c:pt>
                <c:pt idx="3">
                  <c:v>不绑
生态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20</c:v>
                </c:pt>
                <c:pt idx="1">
                  <c:v>40</c:v>
                </c:pt>
                <c:pt idx="2">
                  <c:v>0</c:v>
                </c:pt>
                <c:pt idx="3">
                  <c:v>60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Notta</c:v>
                </c:pt>
              </c:strCache>
            </c:strRef>
          </c:tx>
          <c:spPr>
            <a:solidFill>
              <a:srgbClr val="E5E5EA"/>
            </a:solidFill>
          </c:spPr>
          <c:cat>
            <c:strRef>
              <c:f>Sheet1!$A$2:$A$5</c:f>
              <c:strCache>
                <c:ptCount val="4"/>
                <c:pt idx="0">
                  <c:v>数据
不上云</c:v>
                </c:pt>
                <c:pt idx="1">
                  <c:v>中文
中英混合</c:v>
                </c:pt>
                <c:pt idx="2">
                  <c:v>一次
买断</c:v>
                </c:pt>
                <c:pt idx="3">
                  <c:v>不绑
生态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10</c:v>
                </c:pt>
                <c:pt idx="1">
                  <c:v>70</c:v>
                </c:pt>
                <c:pt idx="2">
                  <c:v>0</c:v>
                </c:pt>
                <c:pt idx="3">
                  <c:v>60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6E6E7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各位投资人好。VibeForge 是一家隐私优先、深耕 Apple 全平台的独立应用工作室。一句话：我们用同一套哲学——隐私优先、一次买断、原生体验——做出七款产品。今天聚焦四款：ChargePilot 管电池、ServerHub 管服务器、TuneSync 管你的音乐、MinuteFlow 管会议记录。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先说清楚我们是谁。我们不是做一个产品，而是用一套产品哲学打透 Apple 生态。三个支柱：第一，隐私优先，所有应用的数据都留在用户设备上，不经过我们的服务器；第二，一次买断，对抗现在满大街的订阅疲劳；第三，低成本扩张，我一个人借助自动化，已经铺开七款产品，每加一款的边际成本极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这是我们的完整产品矩阵，七款产品覆盖六个方向。今天重点讲上面四款：ChargePilot 官网在售、是我们的旗舰；TuneSync 已经上架 App Store；ServerHub 已提交审核；MinuteFlow 是储备管线。下面三款也已提交审核——四款正在过审，随时可能上架，构成后续发布管线。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是现在？因为我们正好踩在两个不可逆的趋势上。第一个是订阅疲劳，用户真的厌倦了——一个管服务器的软件一年约收八百多块。我们的回答很简单：一次买断。第二个是隐私觉醒，大家越来越不愿意把敏感数据全交给云端。我们的回答：本地优先，数据不经过我们的服务器。每一款产品，都正好卡在对手最痛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这张表是市场验证。每条赛道都已经有对手把收费跑通了：会议纪要的 Otter 年收入超过一亿美元、三千五百万用户；管服务器的 Termius 有两百万工程师在用；安卓端的 IPTV 播放器 TiviMate 五百万安装；宠物翻译 MeowTalk 两千万下载。这些数字证明用户愿意为这类工具掏钱。而它们几乎全用订阅制——我们用一次买断进场，直接接住对订阅不满的用户。电池管理和自托管音乐两条赛道对手数据未公开，但 Setapp 精选和 Plex 订阅体系同样证明了付费意愿。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第一款，ChargePilot。一句话：让你的电池多用三年。它是我们目前唯一在售的产品，也是旗舰。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ChargePilot 解决一个很真实的痛点：很多人 Mac 一直插着电，电池长期满充，老化很快，换一块电池要上千块。我们的价值就是让电池多用几年，把这笔钱省下来。三个点：省钱、省心、灵活付费——免费先用，满意再买断或订阅，14 天可退款。商业模式是免费加订阅加买断三档，官网上已经开卖，是我们跑通商业闭环的旗舰。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竞品这块，蓝色是我们。最大的对手是 AlDente，老牌，但在过热保护和电池校准上有缺口。系统自带的最基础，只能优化、不能自定义。还有一类纯监控工具，只给你看数据，什么都不帮你做。我们的定位就一句话：别人只给你看数据，我们帮你管充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第二款，ServerHub，已提交 App Store 审核、即将上架。一句话：手机就能管服务器，买一次用一辈子。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ServerHub 是给有自己服务器的人——开发者、小团队、极客。它已提交审核、即将上架。价值是手机就能管服务器，而且一次买断。三个点：第一省钱，主流订阅工具比如 Termius 一年约八百多，我们一次买断，费用不随年份增长；第二随身，手机就能看状态、传文件、管容器；第三安全，你的密码只存在你手机里，连接不经过任何第三方。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这张图最能说明问题。Termius 订阅第一年约 860，第二年 1720，第三年 2580——订阅的钱一年一年往上叠。而 ServerHub 的回答是一次买断：买一次，费用不随年份增长，定价以上架公布为准。社区里最常见的抱怨就是——不想为一个管服务器的工具长期付费，我们就用买断制直接接住这批用户。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第三款，TuneSync，已经上架 App Store，8 月 11 日刚更新到 1.0.11，链接 apps.apple.com/cn/app/id6783845149。一句话：你自己的音乐，随时听。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TuneSync 已经上架 App Store，免费下载，Plus 订阅解锁高级功能。它给有自己音乐收藏、不想被月租绑架的人。价值是：你自己的音乐，随时听。三个点：第一自由，不用每个月给音乐软件交订阅；第二简单，连上你的 NAS 或网盘就能用，不用自己搭复杂的服务器；第三有趣，我们有独家的 K 歌模式，把你的私人曲库变成卡拉 OK。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自托管音乐这个赛道，蓝色是我们。Amperfy 是社区首选，但得自己搭服务器，门槛高。Plexamp 体验好，但锁死在 Plex 生态、还要订阅。Sonora 这些新兴的还在打磨，都没有 K 歌。TuneSync 的差异就在两点：连上你已有的存储就能用，不用搭服务器；还有独家的 K 歌模式。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第四款，MinuteFlow，储备产品。一句话：录音自动变会议记录，全程不上云。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MinuteFlow 是给开会多的人和小团队。价值是：录音自动变会议记录，全程不上云。三个点：第一省时，开完会纪要和摘要自动生成；第二安全，数据留在你自己设备上，全程不上云；第三中文友好，中文和中英混合会议是我们首发的语言优先。桌面端 99 块一次买断，录音、转写、AI 纪要全部解锁。这是储备管线里的产品；iOS 版已在 App Store Connect 创建记录、筹备提交，桌面端即将推出。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会议记录赛道对手很强，但都有明显短板，蓝色是我们。飞书妙记功能强，但全程上云、绑死生态，隐私顾虑大。Otter 是主流，但英文为主、全程云端。Notta 订阅制、免费额度有限。MinuteFlow 正好卡在空位：数据不上云、中文优先、一次买断。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为什么值得投资，五重壁垒。第一，统一的产品哲学，七款产品同一个承诺，跨品类建立信任。第二，低成本扩张，一个人加自动化，对手难以速成。第三，正好踩在订阅疲劳和隐私觉醒两个不可逆趋势上。第四，ChargePilot 已经跑通付费闭环，证明用户愿意为这套哲学买单。第五，应用矩阵已经蓄水，可以按节奏放量。单个产品容易被复制，但七款产品组合在一起，才是真正的护城河。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以上就是我的汇报。一句话收尾：VibeForge 不是在做一款产品，而是用一套哲学打透整个 Apple 平台。谢谢各位，欢迎提问。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3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chart" Target="../charts/chart4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spc="160">
                <a:solidFill>
                  <a:srgbClr val="86868B"/>
                </a:solidFill>
                <a:latin typeface="Helvetica Neue"/>
                <a:ea typeface="PingFang SC"/>
              </a:rPr>
              <a:t>VIBEFORGE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965960"/>
            <a:ext cx="10515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400" b="1" spc="-160">
                <a:solidFill>
                  <a:srgbClr val="FFFFFF"/>
                </a:solidFill>
                <a:latin typeface="Helvetica Neue"/>
                <a:ea typeface="PingFang SC"/>
              </a:rPr>
              <a:t>用一套哲学</a:t>
            </a:r>
          </a:p>
          <a:p>
            <a:pPr algn="l">
              <a:lnSpc>
                <a:spcPct val="108000"/>
              </a:lnSpc>
            </a:pPr>
            <a:r>
              <a:rPr sz="5400" b="1" spc="-160">
                <a:solidFill>
                  <a:srgbClr val="FFFFFF"/>
                </a:solidFill>
                <a:latin typeface="Helvetica Neue"/>
                <a:ea typeface="PingFang SC"/>
              </a:rPr>
              <a:t>打透 Apple 全平台。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0624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86868B"/>
                </a:solidFill>
                <a:latin typeface="Helvetica Neue"/>
                <a:ea typeface="PingFang SC"/>
              </a:rPr>
              <a:t>产品介绍与竞品分析 · 投资人汇报</a:t>
            </a:r>
          </a:p>
        </p:txBody>
      </p:sp>
      <p:pic>
        <p:nvPicPr>
          <p:cNvPr id="5" name="Picture 4" descr="charge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29200"/>
            <a:ext cx="804672" cy="804672"/>
          </a:xfrm>
          <a:prstGeom prst="rect">
            <a:avLst/>
          </a:prstGeom>
        </p:spPr>
      </p:pic>
      <p:pic>
        <p:nvPicPr>
          <p:cNvPr id="6" name="Picture 5" descr="server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5029200"/>
            <a:ext cx="804672" cy="804672"/>
          </a:xfrm>
          <a:prstGeom prst="rect">
            <a:avLst/>
          </a:prstGeom>
        </p:spPr>
      </p:pic>
      <p:pic>
        <p:nvPicPr>
          <p:cNvPr id="7" name="Picture 6" descr="tune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9864" y="5029200"/>
            <a:ext cx="804672" cy="804672"/>
          </a:xfrm>
          <a:prstGeom prst="rect">
            <a:avLst/>
          </a:prstGeom>
        </p:spPr>
      </p:pic>
      <p:pic>
        <p:nvPicPr>
          <p:cNvPr id="8" name="Picture 7" descr="minute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456" y="5029200"/>
            <a:ext cx="804672" cy="80467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6263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spc="120">
                <a:solidFill>
                  <a:srgbClr val="86868B"/>
                </a:solidFill>
                <a:latin typeface="Helvetica Neue"/>
                <a:ea typeface="PingFang SC"/>
              </a:rPr>
              <a:t>2026.08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spc="160">
                <a:solidFill>
                  <a:srgbClr val="6E6E73"/>
                </a:solidFill>
                <a:latin typeface="Helvetica Neue"/>
                <a:ea typeface="PingFang SC"/>
              </a:rPr>
              <a:t>关于我们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spc="-120">
                <a:solidFill>
                  <a:srgbClr val="1D1D1F"/>
                </a:solidFill>
                <a:latin typeface="Helvetica Neue"/>
                <a:ea typeface="PingFang SC"/>
              </a:rPr>
              <a:t>不靠广告、不卖数据、不绑订阅。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993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73"/>
                </a:solidFill>
                <a:latin typeface="Helvetica Neue"/>
                <a:ea typeface="PingFang SC"/>
              </a:rPr>
              <a:t>做用户真正愿意掏钱买单的工具。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880360"/>
            <a:ext cx="3419856" cy="306324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3264408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C7C7CC"/>
                </a:solidFill>
                <a:latin typeface="Helvetica Neue"/>
                <a:ea typeface="PingFang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06908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D1D1F"/>
                </a:solidFill>
                <a:latin typeface="Helvetica Neue"/>
                <a:ea typeface="PingFang SC"/>
              </a:rPr>
              <a:t>隐私优先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4636008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6E6E73"/>
                </a:solidFill>
                <a:latin typeface="Helvetica Neue"/>
                <a:ea typeface="PingFang SC"/>
              </a:rPr>
              <a:t>数据留在你自己的设备上，不经过我们的服务器，不卖、不追踪。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2880360"/>
            <a:ext cx="3419856" cy="306324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64024" y="3264408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C7C7CC"/>
                </a:solidFill>
                <a:latin typeface="Helvetica Neue"/>
                <a:ea typeface="PingFang SC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4024" y="406908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D1D1F"/>
                </a:solidFill>
                <a:latin typeface="Helvetica Neue"/>
                <a:ea typeface="PingFang SC"/>
              </a:rPr>
              <a:t>一次买断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4636008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6E6E73"/>
                </a:solidFill>
                <a:latin typeface="Helvetica Neue"/>
                <a:ea typeface="PingFang SC"/>
              </a:rPr>
              <a:t>对抗订阅疲劳。买一次、用一辈子，不按月收钱。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82712" y="2880360"/>
            <a:ext cx="3419856" cy="3063240"/>
          </a:xfrm>
          <a:prstGeom prst="roundRect">
            <a:avLst>
              <a:gd name="adj" fmla="val 450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3264408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000" b="1">
                <a:solidFill>
                  <a:srgbClr val="C7C7CC"/>
                </a:solidFill>
                <a:latin typeface="Helvetica Neue"/>
                <a:ea typeface="PingFang SC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06908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1D1D1F"/>
                </a:solidFill>
                <a:latin typeface="Helvetica Neue"/>
                <a:ea typeface="PingFang SC"/>
              </a:rPr>
              <a:t>低成本扩张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636008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50" b="0">
                <a:solidFill>
                  <a:srgbClr val="6E6E73"/>
                </a:solidFill>
                <a:latin typeface="Helvetica Neue"/>
                <a:ea typeface="PingFang SC"/>
              </a:rPr>
              <a:t>一个人加自动化流水线，已经铺开七款产品，边际成本极低。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spc="160">
                <a:solidFill>
                  <a:srgbClr val="6E6E73"/>
                </a:solidFill>
                <a:latin typeface="Helvetica Neue"/>
                <a:ea typeface="PingFang SC"/>
              </a:rPr>
              <a:t>产品组合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spc="-100">
                <a:solidFill>
                  <a:srgbClr val="1D1D1F"/>
                </a:solidFill>
                <a:latin typeface="Helvetica Neue"/>
                <a:ea typeface="PingFang SC"/>
              </a:rPr>
              <a:t>七款产品，今日聚焦四款。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25877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ge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67127"/>
            <a:ext cx="603504" cy="6035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" y="2898647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D1D1F"/>
                </a:solidFill>
                <a:latin typeface="Helvetica Neue"/>
                <a:ea typeface="PingFang SC"/>
              </a:rPr>
              <a:t>ChargePilot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72967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电池管理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3442715"/>
            <a:ext cx="100584" cy="10058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3374135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D1D1F"/>
                </a:solidFill>
                <a:latin typeface="Helvetica Neue"/>
                <a:ea typeface="PingFang SC"/>
              </a:rPr>
              <a:t>官网在售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874519"/>
            <a:ext cx="25877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unesy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896" y="2167127"/>
            <a:ext cx="603504" cy="603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39896" y="2898647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D1D1F"/>
                </a:solidFill>
                <a:latin typeface="Helvetica Neue"/>
                <a:ea typeface="PingFang SC"/>
              </a:rPr>
              <a:t>TuneSync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9896" y="3172967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NAS 音乐</a:t>
            </a:r>
          </a:p>
        </p:txBody>
      </p:sp>
      <p:sp>
        <p:nvSpPr>
          <p:cNvPr id="14" name="Oval 13"/>
          <p:cNvSpPr/>
          <p:nvPr/>
        </p:nvSpPr>
        <p:spPr>
          <a:xfrm>
            <a:off x="3739896" y="3442715"/>
            <a:ext cx="100584" cy="100584"/>
          </a:xfrm>
          <a:prstGeom prst="ellipse">
            <a:avLst/>
          </a:prstGeom>
          <a:solidFill>
            <a:srgbClr val="30A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22776" y="3374135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D1D1F"/>
                </a:solidFill>
                <a:latin typeface="Helvetica Neue"/>
                <a:ea typeface="PingFang SC"/>
              </a:rPr>
              <a:t>已上架 App 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53912" y="1874519"/>
            <a:ext cx="25877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erverhu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8232" y="2167127"/>
            <a:ext cx="603504" cy="60350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428232" y="2898647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D1D1F"/>
                </a:solidFill>
                <a:latin typeface="Helvetica Neue"/>
                <a:ea typeface="PingFang SC"/>
              </a:rPr>
              <a:t>ServerHub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172967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服务器管理</a:t>
            </a:r>
          </a:p>
        </p:txBody>
      </p:sp>
      <p:sp>
        <p:nvSpPr>
          <p:cNvPr id="20" name="Oval 19"/>
          <p:cNvSpPr/>
          <p:nvPr/>
        </p:nvSpPr>
        <p:spPr>
          <a:xfrm>
            <a:off x="6428232" y="3442715"/>
            <a:ext cx="100584" cy="10058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11112" y="3374135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D1D1F"/>
                </a:solidFill>
                <a:latin typeface="Helvetica Neue"/>
                <a:ea typeface="PingFang SC"/>
              </a:rPr>
              <a:t>已提交审核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42248" y="1874519"/>
            <a:ext cx="258775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inute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6568" y="2167127"/>
            <a:ext cx="603504" cy="603504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116568" y="2898647"/>
            <a:ext cx="203911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>
                <a:solidFill>
                  <a:srgbClr val="1D1D1F"/>
                </a:solidFill>
                <a:latin typeface="Helvetica Neue"/>
                <a:ea typeface="PingFang SC"/>
              </a:rPr>
              <a:t>MinuteFlow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6568" y="3172967"/>
            <a:ext cx="20391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会议记录</a:t>
            </a:r>
          </a:p>
        </p:txBody>
      </p:sp>
      <p:sp>
        <p:nvSpPr>
          <p:cNvPr id="26" name="Oval 25"/>
          <p:cNvSpPr/>
          <p:nvPr/>
        </p:nvSpPr>
        <p:spPr>
          <a:xfrm>
            <a:off x="9116568" y="3442715"/>
            <a:ext cx="100584" cy="100584"/>
          </a:xfrm>
          <a:prstGeom prst="ellipse">
            <a:avLst/>
          </a:prstGeom>
          <a:solidFill>
            <a:srgbClr val="AEA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99448" y="3374135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D1D1F"/>
                </a:solidFill>
                <a:latin typeface="Helvetica Neue"/>
                <a:ea typeface="PingFang SC"/>
              </a:rPr>
              <a:t>即将推出</a:t>
            </a:r>
          </a:p>
        </p:txBody>
      </p:sp>
      <p:pic>
        <p:nvPicPr>
          <p:cNvPr id="28" name="Picture 27" descr="tiv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224528"/>
            <a:ext cx="457200" cy="4572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399032" y="4206240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D1D1F"/>
                </a:solidFill>
                <a:latin typeface="Helvetica Neue"/>
                <a:ea typeface="PingFang SC"/>
              </a:rPr>
              <a:t>Tivon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2" y="4462272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电视遥控</a:t>
            </a:r>
          </a:p>
        </p:txBody>
      </p:sp>
      <p:sp>
        <p:nvSpPr>
          <p:cNvPr id="31" name="Oval 30"/>
          <p:cNvSpPr/>
          <p:nvPr/>
        </p:nvSpPr>
        <p:spPr>
          <a:xfrm>
            <a:off x="1399032" y="4786884"/>
            <a:ext cx="100584" cy="10058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81912" y="47183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D1D1F"/>
                </a:solidFill>
                <a:latin typeface="Helvetica Neue"/>
                <a:ea typeface="PingFang SC"/>
              </a:rPr>
              <a:t>已提交审核</a:t>
            </a:r>
          </a:p>
        </p:txBody>
      </p:sp>
      <p:pic>
        <p:nvPicPr>
          <p:cNvPr id="33" name="Picture 32" descr="tailtal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9976" y="4224528"/>
            <a:ext cx="457200" cy="4572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001768" y="4206240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D1D1F"/>
                </a:solidFill>
                <a:latin typeface="Helvetica Neue"/>
                <a:ea typeface="PingFang SC"/>
              </a:rPr>
              <a:t>TailTalk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01768" y="4462272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宠物情绪</a:t>
            </a:r>
          </a:p>
        </p:txBody>
      </p:sp>
      <p:sp>
        <p:nvSpPr>
          <p:cNvPr id="36" name="Oval 35"/>
          <p:cNvSpPr/>
          <p:nvPr/>
        </p:nvSpPr>
        <p:spPr>
          <a:xfrm>
            <a:off x="5001768" y="4786884"/>
            <a:ext cx="100584" cy="10058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84648" y="47183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D1D1F"/>
                </a:solidFill>
                <a:latin typeface="Helvetica Neue"/>
                <a:ea typeface="PingFang SC"/>
              </a:rPr>
              <a:t>已提交审核</a:t>
            </a:r>
          </a:p>
        </p:txBody>
      </p:sp>
      <p:pic>
        <p:nvPicPr>
          <p:cNvPr id="38" name="Picture 37" descr="tellyr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712" y="4224528"/>
            <a:ext cx="457200" cy="4572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604504" y="4206240"/>
            <a:ext cx="2688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1">
                <a:solidFill>
                  <a:srgbClr val="1D1D1F"/>
                </a:solidFill>
                <a:latin typeface="Helvetica Neue"/>
                <a:ea typeface="PingFang SC"/>
              </a:rPr>
              <a:t>Tellyra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04504" y="4462272"/>
            <a:ext cx="268833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IPTV 播放</a:t>
            </a:r>
          </a:p>
        </p:txBody>
      </p:sp>
      <p:sp>
        <p:nvSpPr>
          <p:cNvPr id="41" name="Oval 40"/>
          <p:cNvSpPr/>
          <p:nvPr/>
        </p:nvSpPr>
        <p:spPr>
          <a:xfrm>
            <a:off x="8604504" y="4786884"/>
            <a:ext cx="100584" cy="10058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87384" y="4718304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>
                <a:solidFill>
                  <a:srgbClr val="1D1D1F"/>
                </a:solidFill>
                <a:latin typeface="Helvetica Neue"/>
                <a:ea typeface="PingFang SC"/>
              </a:rPr>
              <a:t>已提交审核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6235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spc="160">
                <a:solidFill>
                  <a:srgbClr val="86868B"/>
                </a:solidFill>
                <a:latin typeface="Helvetica Neue"/>
                <a:ea typeface="PingFang SC"/>
              </a:rPr>
              <a:t>后续管线 · 均已提交审核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98932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1 款官网在售 · 1 款已上架 · 4 款已提交审核，按节奏逐个放量。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spc="160">
                <a:solidFill>
                  <a:srgbClr val="6E6E73"/>
                </a:solidFill>
                <a:latin typeface="Helvetica Neue"/>
                <a:ea typeface="PingFang SC"/>
              </a:rPr>
              <a:t>为什么是现在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spc="-100">
                <a:solidFill>
                  <a:srgbClr val="1D1D1F"/>
                </a:solidFill>
                <a:latin typeface="Helvetica Neue"/>
                <a:ea typeface="PingFang SC"/>
              </a:rPr>
              <a:t>卡位两个不可逆的趋势。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spc="120">
                <a:solidFill>
                  <a:srgbClr val="86868B"/>
                </a:solidFill>
                <a:latin typeface="Helvetica Neue"/>
                <a:ea typeface="PingFang SC"/>
              </a:rPr>
              <a:t>趋势一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86584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spc="-120">
                <a:solidFill>
                  <a:srgbClr val="1D1D1F"/>
                </a:solidFill>
                <a:latin typeface="Helvetica Neue"/>
                <a:ea typeface="PingFang SC"/>
              </a:rPr>
              <a:t>订阅疲劳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2221992"/>
            <a:ext cx="6309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6E6E73"/>
                </a:solidFill>
                <a:latin typeface="Helvetica Neue"/>
                <a:ea typeface="PingFang SC"/>
              </a:rPr>
              <a:t>用户厌倦了为每个工具按月付费——一个管服务器的软件一年约 ¥860。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136392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0071E3"/>
                </a:solidFill>
                <a:latin typeface="Helvetica Neue"/>
                <a:ea typeface="PingFang SC"/>
              </a:rPr>
              <a:t>我们的回答：一次买断，买一次用一辈子。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4904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spc="120">
                <a:solidFill>
                  <a:srgbClr val="86868B"/>
                </a:solidFill>
                <a:latin typeface="Helvetica Neue"/>
                <a:ea typeface="PingFang SC"/>
              </a:rPr>
              <a:t>趋势二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98264"/>
            <a:ext cx="40233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spc="-120">
                <a:solidFill>
                  <a:srgbClr val="1D1D1F"/>
                </a:solidFill>
                <a:latin typeface="Helvetica Neue"/>
                <a:ea typeface="PingFang SC"/>
              </a:rPr>
              <a:t>隐私觉醒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233672"/>
            <a:ext cx="6309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50" b="0">
                <a:solidFill>
                  <a:srgbClr val="6E6E73"/>
                </a:solidFill>
                <a:latin typeface="Helvetica Neue"/>
                <a:ea typeface="PingFang SC"/>
              </a:rPr>
              <a:t>用户越来越不愿意把数据全部交给云端，尤其会议、密钥这类敏感内容。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148072"/>
            <a:ext cx="6309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>
                <a:solidFill>
                  <a:srgbClr val="0071E3"/>
                </a:solidFill>
                <a:latin typeface="Helvetica Neue"/>
                <a:ea typeface="PingFang SC"/>
              </a:rPr>
              <a:t>我们的回答：本地优先，数据不经过我们的服务器。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D1D1F"/>
                </a:solidFill>
                <a:latin typeface="Helvetica Neue"/>
                <a:ea typeface="PingFang SC"/>
              </a:rPr>
              <a:t>每一款产品，都正好卡在对手最痛的地方。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spc="160">
                <a:solidFill>
                  <a:srgbClr val="6E6E73"/>
                </a:solidFill>
                <a:latin typeface="Helvetica Neue"/>
                <a:ea typeface="PingFang SC"/>
              </a:rPr>
              <a:t>市场格局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spc="-100">
                <a:solidFill>
                  <a:srgbClr val="1D1D1F"/>
                </a:solidFill>
                <a:latin typeface="Helvetica Neue"/>
                <a:ea typeface="PingFang SC"/>
              </a:rPr>
              <a:t>对手已经验证了市场。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664208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6E6E73"/>
                </a:solidFill>
                <a:latin typeface="Helvetica Neue"/>
                <a:ea typeface="PingFang SC"/>
              </a:rPr>
              <a:t>每条赛道都有付费成功的对手——我们把它们的订阅，换成一次买断。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12848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spc="80">
                <a:solidFill>
                  <a:srgbClr val="86868B"/>
                </a:solidFill>
                <a:latin typeface="Helvetica Neue"/>
                <a:ea typeface="PingFang SC"/>
              </a:rPr>
              <a:t>赛道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2212848"/>
            <a:ext cx="1234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spc="80">
                <a:solidFill>
                  <a:srgbClr val="86868B"/>
                </a:solidFill>
                <a:latin typeface="Helvetica Neue"/>
                <a:ea typeface="PingFang SC"/>
              </a:rPr>
              <a:t>竞品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212848"/>
            <a:ext cx="1783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spc="80">
                <a:solidFill>
                  <a:srgbClr val="86868B"/>
                </a:solidFill>
                <a:latin typeface="Helvetica Neue"/>
                <a:ea typeface="PingFang SC"/>
              </a:rPr>
              <a:t>它们的定价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212848"/>
            <a:ext cx="2148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spc="80">
                <a:solidFill>
                  <a:srgbClr val="86868B"/>
                </a:solidFill>
                <a:latin typeface="Helvetica Neue"/>
                <a:ea typeface="PingFang SC"/>
              </a:rPr>
              <a:t>体量（公开数据）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78040" y="2212848"/>
            <a:ext cx="1965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spc="80">
                <a:solidFill>
                  <a:srgbClr val="86868B"/>
                </a:solidFill>
                <a:latin typeface="Helvetica Neue"/>
                <a:ea typeface="PingFang SC"/>
              </a:rPr>
              <a:t>赛道前景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2212848"/>
            <a:ext cx="22219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spc="80">
                <a:solidFill>
                  <a:srgbClr val="86868B"/>
                </a:solidFill>
                <a:latin typeface="Helvetica Neue"/>
                <a:ea typeface="PingFang SC"/>
              </a:rPr>
              <a:t>我们的卡位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电池管理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3347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D1D1F"/>
                </a:solidFill>
                <a:latin typeface="Helvetica Neue"/>
                <a:ea typeface="PingFang SC"/>
              </a:rPr>
              <a:t>AlDente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6334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6E73"/>
                </a:solidFill>
                <a:latin typeface="Helvetica Neue"/>
                <a:ea typeface="PingFang SC"/>
              </a:rPr>
              <a:t>买断 $9–25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63347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D1D1F"/>
                </a:solidFill>
                <a:latin typeface="Helvetica Neue"/>
                <a:ea typeface="PingFang SC"/>
              </a:rPr>
              <a:t>未公开 · Setapp 精选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6334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Mac 保有量大 · 刚需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633472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71E3"/>
                </a:solidFill>
                <a:latin typeface="Helvetica Neue"/>
                <a:ea typeface="PingFang SC"/>
              </a:rPr>
              <a:t>ChargePilot 官网在售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00400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服务器管理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20040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D1D1F"/>
                </a:solidFill>
                <a:latin typeface="Helvetica Neue"/>
                <a:ea typeface="PingFang SC"/>
              </a:rPr>
              <a:t>Termius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32004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6E73"/>
                </a:solidFill>
                <a:latin typeface="Helvetica Neue"/>
                <a:ea typeface="PingFang SC"/>
              </a:rPr>
              <a:t>订阅 约$120/年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2004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D1D1F"/>
                </a:solidFill>
                <a:latin typeface="Helvetica Neue"/>
                <a:ea typeface="PingFang SC"/>
              </a:rPr>
              <a:t>200万+ 工程师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200400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开发者工具稳定增长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200400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71E3"/>
                </a:solidFill>
                <a:latin typeface="Helvetica Neue"/>
                <a:ea typeface="PingFang SC"/>
              </a:rPr>
              <a:t>ServerHub 买断·即将上架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7673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自托管音乐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3767328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D1D1F"/>
                </a:solidFill>
                <a:latin typeface="Helvetica Neue"/>
                <a:ea typeface="PingFang SC"/>
              </a:rPr>
              <a:t>Plexamp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767328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6E73"/>
                </a:solidFill>
                <a:latin typeface="Helvetica Neue"/>
                <a:ea typeface="PingFang SC"/>
              </a:rPr>
              <a:t>需 Plex 订阅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37673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D1D1F"/>
                </a:solidFill>
                <a:latin typeface="Helvetica Neue"/>
                <a:ea typeface="PingFang SC"/>
              </a:rPr>
              <a:t>未公开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767328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NAS 自托管用户增长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767328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71E3"/>
                </a:solidFill>
                <a:latin typeface="Helvetica Neue"/>
                <a:ea typeface="PingFang SC"/>
              </a:rPr>
              <a:t>TuneSync 已上架·免费+订阅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4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334256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会议纪要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334256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D1D1F"/>
                </a:solidFill>
                <a:latin typeface="Helvetica Neue"/>
                <a:ea typeface="PingFang SC"/>
              </a:rPr>
              <a:t>Otter.ai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54680" y="4334256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6E73"/>
                </a:solidFill>
                <a:latin typeface="Helvetica Neue"/>
                <a:ea typeface="PingFang SC"/>
              </a:rPr>
              <a:t>订阅制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4334256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D1D1F"/>
                </a:solidFill>
                <a:latin typeface="Helvetica Neue"/>
                <a:ea typeface="PingFang SC"/>
              </a:rPr>
              <a:t>ARR $1亿+ · 用户 3500万+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4334256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AI 纪要高增长赛道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334256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71E3"/>
                </a:solidFill>
                <a:latin typeface="Helvetica Neue"/>
                <a:ea typeface="PingFang SC"/>
              </a:rPr>
              <a:t>MinuteFlow ¥99 买断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901184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IPTV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74519" y="4901184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D1D1F"/>
                </a:solidFill>
                <a:latin typeface="Helvetica Neue"/>
                <a:ea typeface="PingFang SC"/>
              </a:rPr>
              <a:t>TiviMate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4901184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6E73"/>
                </a:solidFill>
                <a:latin typeface="Helvetica Neue"/>
                <a:ea typeface="PingFang SC"/>
              </a:rPr>
              <a:t>免费+高级订阅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83480" y="4901184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D1D1F"/>
                </a:solidFill>
                <a:latin typeface="Helvetica Neue"/>
                <a:ea typeface="PingFang SC"/>
              </a:rPr>
              <a:t>500万+ 安装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78040" y="4901184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大屏需求稳 · 仅 Android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9720" y="4901184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71E3"/>
                </a:solidFill>
                <a:latin typeface="Helvetica Neue"/>
                <a:ea typeface="PingFang SC"/>
              </a:rPr>
              <a:t>Tellyra 审核中·补 Apple 空位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7240" y="5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468112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宠物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74519" y="5468112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D1D1F"/>
                </a:solidFill>
                <a:latin typeface="Helvetica Neue"/>
                <a:ea typeface="PingFang SC"/>
              </a:rPr>
              <a:t>MeowTalk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546811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6E6E73"/>
                </a:solidFill>
                <a:latin typeface="Helvetica Neue"/>
                <a:ea typeface="PingFang SC"/>
              </a:rPr>
              <a:t>订阅 约$60/年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83480" y="546811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D1D1F"/>
                </a:solidFill>
                <a:latin typeface="Helvetica Neue"/>
                <a:ea typeface="PingFang SC"/>
              </a:rPr>
              <a:t>2000万+ 下载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78040" y="54681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6E6E73"/>
                </a:solidFill>
                <a:latin typeface="Helvetica Neue"/>
                <a:ea typeface="PingFang SC"/>
              </a:rPr>
              <a:t>宠物经济持续增长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89720" y="5468112"/>
            <a:ext cx="2221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0071E3"/>
                </a:solidFill>
                <a:latin typeface="Helvetica Neue"/>
                <a:ea typeface="PingFang SC"/>
              </a:rPr>
              <a:t>TailTalk 审核中·隐私优先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" y="6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6089904"/>
            <a:ext cx="106344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来源：各产品官网 / Google Play / ZoomInfo / Otter.ai 官方公告等公开资料（2026.08）；未公开 = 无可靠公开数据。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234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spc="150">
                <a:solidFill>
                  <a:srgbClr val="86868B"/>
                </a:solidFill>
                <a:latin typeface="Helvetica Neue"/>
                <a:ea typeface="PingFang SC"/>
              </a:rPr>
              <a:t>01</a:t>
            </a:r>
          </a:p>
        </p:txBody>
      </p:sp>
      <p:pic>
        <p:nvPicPr>
          <p:cNvPr id="3" name="Picture 2" descr="charge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783080"/>
            <a:ext cx="237744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526280"/>
            <a:ext cx="121916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spc="-140">
                <a:solidFill>
                  <a:srgbClr val="FFFFFF"/>
                </a:solidFill>
                <a:latin typeface="Helvetica Neue"/>
                <a:ea typeface="PingFang SC"/>
              </a:rPr>
              <a:t>ChargePilot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>
                <a:solidFill>
                  <a:srgbClr val="0071E3"/>
                </a:solidFill>
                <a:latin typeface="Helvetica Neue"/>
                <a:ea typeface="PingFang SC"/>
              </a:rPr>
              <a:t>让你的电池多用三年。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rge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62179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D1D1F"/>
                </a:solidFill>
                <a:latin typeface="Helvetica Neue"/>
                <a:ea typeface="PingFang SC"/>
              </a:rPr>
              <a:t>ChargePilot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708660"/>
            <a:ext cx="100584" cy="10058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D1D1F"/>
                </a:solidFill>
                <a:latin typeface="Helvetica Neue"/>
                <a:ea typeface="PingFang SC"/>
              </a:rPr>
              <a:t>官网在售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spc="-140">
                <a:solidFill>
                  <a:srgbClr val="1D1D1F"/>
                </a:solidFill>
                <a:latin typeface="Helvetica Neue"/>
                <a:ea typeface="PingFang SC"/>
              </a:rPr>
              <a:t>让你的电池，多用三年。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73"/>
                </a:solidFill>
                <a:latin typeface="Helvetica Neue"/>
                <a:ea typeface="PingFang SC"/>
              </a:rPr>
              <a:t>为 · 长期插着电源用 Mac 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0156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省钱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4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换一块电池上千元。ChargePilot 让电池多用几年，把这笔钱省下来。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7880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省心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自动管理充电上限和温度，你不用再记着拔电源。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5604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灵活付费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30352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免费先用，满意了再选订阅或一次性买断，14 天可退款。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779008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88736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商业模式：</a:t>
            </a:r>
            <a:r>
              <a:rPr sz="1300" b="1">
                <a:solidFill>
                  <a:srgbClr val="0071E3"/>
                </a:solidFill>
                <a:latin typeface="Helvetica Neue"/>
                <a:ea typeface="PingFang SC"/>
              </a:rPr>
              <a:t>永久免费</a:t>
            </a:r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（监控） · </a:t>
            </a:r>
            <a:r>
              <a:rPr sz="1300" b="1">
                <a:solidFill>
                  <a:srgbClr val="0071E3"/>
                </a:solidFill>
                <a:latin typeface="Helvetica Neue"/>
                <a:ea typeface="PingFang SC"/>
              </a:rPr>
              <a:t>年订阅</a:t>
            </a:r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（7 天试用） · </a:t>
            </a:r>
            <a:r>
              <a:rPr sz="1300" b="1">
                <a:solidFill>
                  <a:srgbClr val="0071E3"/>
                </a:solidFill>
                <a:latin typeface="Helvetica Neue"/>
                <a:ea typeface="PingFang SC"/>
              </a:rPr>
              <a:t>终身买断</a:t>
            </a:r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（一次付费）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harge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62179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D1D1F"/>
                </a:solidFill>
                <a:latin typeface="Helvetica Neue"/>
                <a:ea typeface="PingFang SC"/>
              </a:rPr>
              <a:t>ChargePilot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708660"/>
            <a:ext cx="100584" cy="100584"/>
          </a:xfrm>
          <a:prstGeom prst="ellipse">
            <a:avLst/>
          </a:prstGeom>
          <a:solidFill>
            <a:srgbClr val="AEA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D1D1F"/>
                </a:solidFill>
                <a:latin typeface="Helvetica Neue"/>
                <a:ea typeface="PingFang SC"/>
              </a:rPr>
              <a:t>竞品对比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spc="-80">
                <a:solidFill>
                  <a:srgbClr val="1D1D1F"/>
                </a:solidFill>
                <a:latin typeface="Helvetica Neue"/>
                <a:ea typeface="PingFang SC"/>
              </a:rPr>
              <a:t>别人只给你看数据，我们帮你管充电。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395728"/>
          <a:ext cx="722376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83879" y="22128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看懂这张图</a:t>
            </a:r>
          </a:p>
        </p:txBody>
      </p:sp>
      <p:sp>
        <p:nvSpPr>
          <p:cNvPr id="10" name="Oval 9"/>
          <p:cNvSpPr/>
          <p:nvPr/>
        </p:nvSpPr>
        <p:spPr>
          <a:xfrm>
            <a:off x="8183879" y="2670048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060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AlDente — 老牌对手，但在过热保护和校准上仍有缺口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3474720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3410712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系统自带 — 免费，但只能做最基础的优化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4279392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4215384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监控类 — 只显示数据，不会帮你做任何事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5084064"/>
            <a:ext cx="82296" cy="82296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5020056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ChargePilot — 不只是看，是主动帮你把电充对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234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spc="150">
                <a:solidFill>
                  <a:srgbClr val="86868B"/>
                </a:solidFill>
                <a:latin typeface="Helvetica Neue"/>
                <a:ea typeface="PingFang SC"/>
              </a:rPr>
              <a:t>02</a:t>
            </a:r>
          </a:p>
        </p:txBody>
      </p:sp>
      <p:pic>
        <p:nvPicPr>
          <p:cNvPr id="3" name="Picture 2" descr="server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783080"/>
            <a:ext cx="237744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526280"/>
            <a:ext cx="121916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spc="-140">
                <a:solidFill>
                  <a:srgbClr val="FFFFFF"/>
                </a:solidFill>
                <a:latin typeface="Helvetica Neue"/>
                <a:ea typeface="PingFang SC"/>
              </a:rPr>
              <a:t>ServerHub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>
                <a:solidFill>
                  <a:srgbClr val="0071E3"/>
                </a:solidFill>
                <a:latin typeface="Helvetica Neue"/>
                <a:ea typeface="PingFang SC"/>
              </a:rPr>
              <a:t>手机就能管服务器，买一次用一辈子。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rver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62179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D1D1F"/>
                </a:solidFill>
                <a:latin typeface="Helvetica Neue"/>
                <a:ea typeface="PingFang SC"/>
              </a:rPr>
              <a:t>ServerHub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708660"/>
            <a:ext cx="100584" cy="100584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D1D1F"/>
                </a:solidFill>
                <a:latin typeface="Helvetica Neue"/>
                <a:ea typeface="PingFang SC"/>
              </a:rPr>
              <a:t>已提交审核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spc="-130">
                <a:solidFill>
                  <a:srgbClr val="1D1D1F"/>
                </a:solidFill>
                <a:latin typeface="Helvetica Neue"/>
                <a:ea typeface="PingFang SC"/>
              </a:rPr>
              <a:t>手机就能管服务器，</a:t>
            </a:r>
          </a:p>
          <a:p>
            <a:pPr algn="l">
              <a:lnSpc>
                <a:spcPct val="112000"/>
              </a:lnSpc>
            </a:pPr>
            <a:r>
              <a:rPr sz="4200" b="1" spc="-130">
                <a:solidFill>
                  <a:srgbClr val="1D1D1F"/>
                </a:solidFill>
                <a:latin typeface="Helvetica Neue"/>
                <a:ea typeface="PingFang SC"/>
              </a:rPr>
              <a:t>买一次用一辈子。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73"/>
                </a:solidFill>
                <a:latin typeface="Helvetica Neue"/>
                <a:ea typeface="PingFang SC"/>
              </a:rPr>
              <a:t>为 · 有自己服务器的开发者、小团队、极客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6732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省钱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主流订阅工具一年约 ¥860、越用越贵；我们一次买断，费用不随年份增长。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9884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随身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84632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手机随时看服务器状态、传文件、管容器，不用回到电脑前。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3036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安全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57784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你的密码只存在你手机里，连接不经过任何第三方。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erver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62179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D1D1F"/>
                </a:solidFill>
                <a:latin typeface="Helvetica Neue"/>
                <a:ea typeface="PingFang SC"/>
              </a:rPr>
              <a:t>ServerHub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708660"/>
            <a:ext cx="100584" cy="100584"/>
          </a:xfrm>
          <a:prstGeom prst="ellipse">
            <a:avLst/>
          </a:prstGeom>
          <a:solidFill>
            <a:srgbClr val="AEA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D1D1F"/>
                </a:solidFill>
                <a:latin typeface="Helvetica Neue"/>
                <a:ea typeface="PingFang SC"/>
              </a:rPr>
              <a:t>竞品对比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spc="-80">
                <a:solidFill>
                  <a:srgbClr val="1D1D1F"/>
                </a:solidFill>
                <a:latin typeface="Helvetica Neue"/>
                <a:ea typeface="PingFang SC"/>
              </a:rPr>
              <a:t>订阅的钱，一年一年往上叠。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395728"/>
          <a:ext cx="722376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83879" y="237744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spc="120">
                <a:solidFill>
                  <a:srgbClr val="86868B"/>
                </a:solidFill>
                <a:latin typeface="Helvetica Neue"/>
                <a:ea typeface="PingFang SC"/>
              </a:rPr>
              <a:t>TERMIUS 三年订阅费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670048"/>
            <a:ext cx="3246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spc="-120">
                <a:solidFill>
                  <a:srgbClr val="1D1D1F"/>
                </a:solidFill>
                <a:latin typeface="Helvetica Neue"/>
                <a:ea typeface="PingFang SC"/>
              </a:rPr>
              <a:t>¥2,580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84448"/>
            <a:ext cx="3246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0071E3"/>
                </a:solidFill>
                <a:latin typeface="Helvetica Neue"/>
                <a:ea typeface="PingFang SC"/>
              </a:rPr>
              <a:t>我们的回答：买断只付一次。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4114800"/>
            <a:ext cx="3246120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4343400"/>
            <a:ext cx="3246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6E6E73"/>
                </a:solidFill>
                <a:latin typeface="Helvetica Neue"/>
                <a:ea typeface="PingFang SC"/>
              </a:rPr>
              <a:t>社区里最常见的抱怨就是「不想为一个管服务器的工具长期付费」。我们用买断制直接接住这批用户。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234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spc="150">
                <a:solidFill>
                  <a:srgbClr val="86868B"/>
                </a:solidFill>
                <a:latin typeface="Helvetica Neue"/>
                <a:ea typeface="PingFang SC"/>
              </a:rPr>
              <a:t>03</a:t>
            </a:r>
          </a:p>
        </p:txBody>
      </p:sp>
      <p:pic>
        <p:nvPicPr>
          <p:cNvPr id="3" name="Picture 2" descr="tune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783080"/>
            <a:ext cx="237744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526280"/>
            <a:ext cx="121916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spc="-140">
                <a:solidFill>
                  <a:srgbClr val="FFFFFF"/>
                </a:solidFill>
                <a:latin typeface="Helvetica Neue"/>
                <a:ea typeface="PingFang SC"/>
              </a:rPr>
              <a:t>TuneSync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>
                <a:solidFill>
                  <a:srgbClr val="0071E3"/>
                </a:solidFill>
                <a:latin typeface="Helvetica Neue"/>
                <a:ea typeface="PingFang SC"/>
              </a:rPr>
              <a:t>你自己的音乐，随时听。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une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62179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D1D1F"/>
                </a:solidFill>
                <a:latin typeface="Helvetica Neue"/>
                <a:ea typeface="PingFang SC"/>
              </a:rPr>
              <a:t>TuneSync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708660"/>
            <a:ext cx="100584" cy="100584"/>
          </a:xfrm>
          <a:prstGeom prst="ellipse">
            <a:avLst/>
          </a:prstGeom>
          <a:solidFill>
            <a:srgbClr val="30A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D1D1F"/>
                </a:solidFill>
                <a:latin typeface="Helvetica Neue"/>
                <a:ea typeface="PingFang SC"/>
              </a:rPr>
              <a:t>已上架 App Store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400" b="1" spc="-140">
                <a:solidFill>
                  <a:srgbClr val="1D1D1F"/>
                </a:solidFill>
                <a:latin typeface="Helvetica Neue"/>
                <a:ea typeface="PingFang SC"/>
              </a:rPr>
              <a:t>你自己的音乐，随时听。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73"/>
                </a:solidFill>
                <a:latin typeface="Helvetica Neue"/>
                <a:ea typeface="PingFang SC"/>
              </a:rPr>
              <a:t>为 · 有自己音乐收藏、不想被月租绑架的人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40156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自由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4904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不用每个月给音乐软件交订阅费，你收藏的就是你的。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20624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17880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简单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52628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连上你的 NAS 或网盘就能用，不用自己搭复杂的服务器。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8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95604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有趣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30352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独家 K 歌模式，把你的私人曲库变成卡拉 OK。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779008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88736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已上架 App Store：</a:t>
            </a:r>
            <a:r>
              <a:rPr sz="1300" b="1">
                <a:solidFill>
                  <a:srgbClr val="0071E3"/>
                </a:solidFill>
                <a:latin typeface="Helvetica Neue"/>
                <a:ea typeface="PingFang SC"/>
              </a:rPr>
              <a:t>免费下载</a:t>
            </a:r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 · </a:t>
            </a:r>
            <a:r>
              <a:rPr sz="1300" b="1">
                <a:solidFill>
                  <a:srgbClr val="0071E3"/>
                </a:solidFill>
                <a:latin typeface="Helvetica Neue"/>
                <a:ea typeface="PingFang SC"/>
              </a:rPr>
              <a:t>TuneSync Plus 订阅</a:t>
            </a:r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解锁高级功能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unesyn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62179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D1D1F"/>
                </a:solidFill>
                <a:latin typeface="Helvetica Neue"/>
                <a:ea typeface="PingFang SC"/>
              </a:rPr>
              <a:t>TuneSync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708660"/>
            <a:ext cx="100584" cy="100584"/>
          </a:xfrm>
          <a:prstGeom prst="ellipse">
            <a:avLst/>
          </a:prstGeom>
          <a:solidFill>
            <a:srgbClr val="AEA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D1D1F"/>
                </a:solidFill>
                <a:latin typeface="Helvetica Neue"/>
                <a:ea typeface="PingFang SC"/>
              </a:rPr>
              <a:t>竞品对比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spc="-80">
                <a:solidFill>
                  <a:srgbClr val="1D1D1F"/>
                </a:solidFill>
                <a:latin typeface="Helvetica Neue"/>
                <a:ea typeface="PingFang SC"/>
              </a:rPr>
              <a:t>免搭服务器 + K 歌，差异化切入。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395728"/>
          <a:ext cx="722376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83879" y="22128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看懂这张图</a:t>
            </a:r>
          </a:p>
        </p:txBody>
      </p:sp>
      <p:sp>
        <p:nvSpPr>
          <p:cNvPr id="10" name="Oval 9"/>
          <p:cNvSpPr/>
          <p:nvPr/>
        </p:nvSpPr>
        <p:spPr>
          <a:xfrm>
            <a:off x="8183879" y="2670048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060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Amperfy — 社区首选，但要自己搭服务器，门槛高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3474720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3410712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Plexamp — 体验好，但锁死在 Plex 生态、要订阅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4279392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4215384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Sonora — 新兴客户端，还在打磨，没有 K 歌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5084064"/>
            <a:ext cx="82296" cy="82296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5020056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TuneSync — 连上存储就能用，还有独家 K 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2344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spc="150">
                <a:solidFill>
                  <a:srgbClr val="86868B"/>
                </a:solidFill>
                <a:latin typeface="Helvetica Neue"/>
                <a:ea typeface="PingFang SC"/>
              </a:rPr>
              <a:t>04</a:t>
            </a:r>
          </a:p>
        </p:txBody>
      </p:sp>
      <p:pic>
        <p:nvPicPr>
          <p:cNvPr id="3" name="Picture 2" descr="minute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783080"/>
            <a:ext cx="237744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4526280"/>
            <a:ext cx="1219169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1" spc="-140">
                <a:solidFill>
                  <a:srgbClr val="FFFFFF"/>
                </a:solidFill>
                <a:latin typeface="Helvetica Neue"/>
                <a:ea typeface="PingFang SC"/>
              </a:rPr>
              <a:t>MinuteFlow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34924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>
                <a:solidFill>
                  <a:srgbClr val="0071E3"/>
                </a:solidFill>
                <a:latin typeface="Helvetica Neue"/>
                <a:ea typeface="PingFang SC"/>
              </a:rPr>
              <a:t>录音自动变会议记录。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nute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62179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D1D1F"/>
                </a:solidFill>
                <a:latin typeface="Helvetica Neue"/>
                <a:ea typeface="PingFang SC"/>
              </a:rPr>
              <a:t>MinuteFlow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708660"/>
            <a:ext cx="100584" cy="100584"/>
          </a:xfrm>
          <a:prstGeom prst="ellipse">
            <a:avLst/>
          </a:prstGeom>
          <a:solidFill>
            <a:srgbClr val="AEA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D1D1F"/>
                </a:solidFill>
                <a:latin typeface="Helvetica Neue"/>
                <a:ea typeface="PingFang SC"/>
              </a:rPr>
              <a:t>即将推出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spc="-130">
                <a:solidFill>
                  <a:srgbClr val="1D1D1F"/>
                </a:solidFill>
                <a:latin typeface="Helvetica Neue"/>
                <a:ea typeface="PingFang SC"/>
              </a:rPr>
              <a:t>录音自动变会议记录，</a:t>
            </a:r>
          </a:p>
          <a:p>
            <a:pPr algn="l">
              <a:lnSpc>
                <a:spcPct val="112000"/>
              </a:lnSpc>
            </a:pPr>
            <a:r>
              <a:rPr sz="4200" b="1" spc="-130">
                <a:solidFill>
                  <a:srgbClr val="1D1D1F"/>
                </a:solidFill>
                <a:latin typeface="Helvetica Neue"/>
                <a:ea typeface="PingFang SC"/>
              </a:rPr>
              <a:t>全程不上云。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E6E73"/>
                </a:solidFill>
                <a:latin typeface="Helvetica Neue"/>
                <a:ea typeface="PingFang SC"/>
              </a:rPr>
              <a:t>为 · 开会多的人和小团队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9476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6732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省时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411480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开完会，会议纪要和摘要自动生成，不用再手写整理。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2628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49884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安全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84632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数据留在你自己的电脑和手机上，全程不上云。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685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>
                <a:solidFill>
                  <a:srgbClr val="C7C7CC"/>
                </a:solidFill>
                <a:latin typeface="Helvetica Neue"/>
                <a:ea typeface="PingFang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230368"/>
            <a:ext cx="9738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1D1D1F"/>
                </a:solidFill>
                <a:latin typeface="Helvetica Neue"/>
                <a:ea typeface="PingFang SC"/>
              </a:rPr>
              <a:t>中文友好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577840"/>
            <a:ext cx="9738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6E6E73"/>
                </a:solidFill>
                <a:latin typeface="Helvetica Neue"/>
                <a:ea typeface="PingFang SC"/>
              </a:rPr>
              <a:t>中文和中英混合会议，是我们首发的语言优先。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779008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888736"/>
            <a:ext cx="1063447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桌面端定价：</a:t>
            </a:r>
            <a:r>
              <a:rPr sz="1300" b="1">
                <a:solidFill>
                  <a:srgbClr val="0071E3"/>
                </a:solidFill>
                <a:latin typeface="Helvetica Neue"/>
                <a:ea typeface="PingFang SC"/>
              </a:rPr>
              <a:t>¥99 一次买断，终身使用</a:t>
            </a:r>
            <a:r>
              <a:rPr sz="1300" b="0">
                <a:solidFill>
                  <a:srgbClr val="1D1D1F"/>
                </a:solidFill>
                <a:latin typeface="Helvetica Neue"/>
                <a:ea typeface="PingFang SC"/>
              </a:rPr>
              <a:t> · 录音、转写、AI 纪要全部解锁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nute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66928"/>
            <a:ext cx="621792" cy="6217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72768" y="548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1">
                <a:solidFill>
                  <a:srgbClr val="1D1D1F"/>
                </a:solidFill>
                <a:latin typeface="Helvetica Neue"/>
                <a:ea typeface="PingFang SC"/>
              </a:rPr>
              <a:t>MinuteFlow</a:t>
            </a:r>
          </a:p>
        </p:txBody>
      </p:sp>
      <p:sp>
        <p:nvSpPr>
          <p:cNvPr id="4" name="Oval 3"/>
          <p:cNvSpPr/>
          <p:nvPr/>
        </p:nvSpPr>
        <p:spPr>
          <a:xfrm>
            <a:off x="8595360" y="708660"/>
            <a:ext cx="100584" cy="100584"/>
          </a:xfrm>
          <a:prstGeom prst="ellipse">
            <a:avLst/>
          </a:prstGeom>
          <a:solidFill>
            <a:srgbClr val="AEAE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1D1D1F"/>
                </a:solidFill>
                <a:latin typeface="Helvetica Neue"/>
                <a:ea typeface="PingFang SC"/>
              </a:rPr>
              <a:t>竞品对比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10634472" cy="9525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spc="-80">
                <a:solidFill>
                  <a:srgbClr val="1D1D1F"/>
                </a:solidFill>
                <a:latin typeface="Helvetica Neue"/>
                <a:ea typeface="PingFang SC"/>
              </a:rPr>
              <a:t>本地优先 + 中文，对抗强云端。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2395728"/>
          <a:ext cx="7223760" cy="3703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183879" y="2212848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D1D1F"/>
                </a:solidFill>
                <a:latin typeface="Helvetica Neue"/>
                <a:ea typeface="PingFang SC"/>
              </a:rPr>
              <a:t>看懂这张图</a:t>
            </a:r>
          </a:p>
        </p:txBody>
      </p:sp>
      <p:sp>
        <p:nvSpPr>
          <p:cNvPr id="10" name="Oval 9"/>
          <p:cNvSpPr/>
          <p:nvPr/>
        </p:nvSpPr>
        <p:spPr>
          <a:xfrm>
            <a:off x="8183879" y="2670048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606040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飞书妙记 — 功能强，但全程上云、绑死生态，隐私顾虑大</a:t>
            </a:r>
          </a:p>
        </p:txBody>
      </p:sp>
      <p:sp>
        <p:nvSpPr>
          <p:cNvPr id="12" name="Oval 11"/>
          <p:cNvSpPr/>
          <p:nvPr/>
        </p:nvSpPr>
        <p:spPr>
          <a:xfrm>
            <a:off x="8183879" y="3474720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3410712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Otter — 主流选择，但英文为主、全程云端</a:t>
            </a:r>
          </a:p>
        </p:txBody>
      </p:sp>
      <p:sp>
        <p:nvSpPr>
          <p:cNvPr id="14" name="Oval 13"/>
          <p:cNvSpPr/>
          <p:nvPr/>
        </p:nvSpPr>
        <p:spPr>
          <a:xfrm>
            <a:off x="8183879" y="4279392"/>
            <a:ext cx="82296" cy="82296"/>
          </a:xfrm>
          <a:prstGeom prst="ellipse">
            <a:avLst/>
          </a:prstGeom>
          <a:solidFill>
            <a:srgbClr val="A6A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4215384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Notta — 订阅制、免费额度有限、中文还行</a:t>
            </a:r>
          </a:p>
        </p:txBody>
      </p:sp>
      <p:sp>
        <p:nvSpPr>
          <p:cNvPr id="16" name="Oval 15"/>
          <p:cNvSpPr/>
          <p:nvPr/>
        </p:nvSpPr>
        <p:spPr>
          <a:xfrm>
            <a:off x="8183879" y="5084064"/>
            <a:ext cx="82296" cy="82296"/>
          </a:xfrm>
          <a:prstGeom prst="ellipse">
            <a:avLst/>
          </a:prstGeom>
          <a:solidFill>
            <a:srgbClr val="007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5020056"/>
            <a:ext cx="30175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6E6E73"/>
                </a:solidFill>
                <a:latin typeface="Helvetica Neue"/>
                <a:ea typeface="PingFang SC"/>
              </a:rPr>
              <a:t>MinuteFlow — 本地不上云 + 中文优先 + 买断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583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spc="160">
                <a:solidFill>
                  <a:srgbClr val="86868B"/>
                </a:solidFill>
                <a:latin typeface="Helvetica Neue"/>
                <a:ea typeface="PingFang SC"/>
              </a:rPr>
              <a:t>竞争壁垒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6070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spc="-100">
                <a:solidFill>
                  <a:srgbClr val="FFFFFF"/>
                </a:solidFill>
                <a:latin typeface="Helvetica Neue"/>
                <a:ea typeface="PingFang SC"/>
              </a:rPr>
              <a:t>五重壁垒，组合即护城河。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6868B"/>
                </a:solidFill>
                <a:latin typeface="Helvetica Neue"/>
                <a:ea typeface="PingFang S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2130552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Helvetica Neue"/>
                <a:ea typeface="PingFang SC"/>
              </a:rPr>
              <a:t>统一哲学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247802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86868B"/>
                </a:solidFill>
                <a:latin typeface="Helvetica Neue"/>
                <a:ea typeface="PingFang SC"/>
              </a:rPr>
              <a:t>隐私 + 买断 + 原生，七款产品同一个承诺，跨品类建立信任。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6868B"/>
                </a:solidFill>
                <a:latin typeface="Helvetica Neue"/>
                <a:ea typeface="PingFang SC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3547872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Helvetica Neue"/>
                <a:ea typeface="PingFang SC"/>
              </a:rPr>
              <a:t>低成本扩张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389534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86868B"/>
                </a:solidFill>
                <a:latin typeface="Helvetica Neue"/>
                <a:ea typeface="PingFang SC"/>
              </a:rPr>
              <a:t>一人加自动化，每加一款产品成本极低，对手难以速成。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6868B"/>
                </a:solidFill>
                <a:latin typeface="Helvetica Neue"/>
                <a:ea typeface="PingFang SC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4965192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Helvetica Neue"/>
                <a:ea typeface="PingFang SC"/>
              </a:rPr>
              <a:t>趋势卡位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31266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86868B"/>
                </a:solidFill>
                <a:latin typeface="Helvetica Neue"/>
                <a:ea typeface="PingFang SC"/>
              </a:rPr>
              <a:t>正好踩在订阅疲劳和隐私觉醒两个不可逆趋势上。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6868B"/>
                </a:solidFill>
                <a:latin typeface="Helvetica Neue"/>
                <a:ea typeface="PingFang SC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30552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Helvetica Neue"/>
                <a:ea typeface="PingFang SC"/>
              </a:rPr>
              <a:t>旗舰验证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7802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86868B"/>
                </a:solidFill>
                <a:latin typeface="Helvetica Neue"/>
                <a:ea typeface="PingFang SC"/>
              </a:rPr>
              <a:t>ChargePilot 已跑通付费闭环，证明用户愿意为这套哲学买单。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66160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>
                <a:solidFill>
                  <a:srgbClr val="86868B"/>
                </a:solidFill>
                <a:latin typeface="Helvetica Neue"/>
                <a:ea typeface="PingFang SC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547872"/>
            <a:ext cx="4206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Helvetica Neue"/>
                <a:ea typeface="PingFang SC"/>
              </a:rPr>
              <a:t>多线管线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895344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86868B"/>
                </a:solidFill>
                <a:latin typeface="Helvetica Neue"/>
                <a:ea typeface="PingFang SC"/>
              </a:rPr>
              <a:t>应用矩阵已蓄水，可按节奏逐个放量，持续的增长曲线。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2148840"/>
            <a:ext cx="9525" cy="3566160"/>
          </a:xfrm>
          <a:prstGeom prst="rect">
            <a:avLst/>
          </a:prstGeom>
          <a:solidFill>
            <a:srgbClr val="2E2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473952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VibeForge · 投资人汇报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473952"/>
            <a:ext cx="9875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850" b="0">
                <a:solidFill>
                  <a:srgbClr val="86868B"/>
                </a:solidFill>
                <a:latin typeface="Helvetica Neue"/>
                <a:ea typeface="PingFang SC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40280"/>
            <a:ext cx="121916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6400" b="1" spc="-200">
                <a:solidFill>
                  <a:srgbClr val="FFFFFF"/>
                </a:solidFill>
                <a:latin typeface="Helvetica Neue"/>
                <a:ea typeface="PingFang SC"/>
              </a:rPr>
              <a:t>谢谢。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00" b="0">
                <a:solidFill>
                  <a:srgbClr val="0071E3"/>
                </a:solidFill>
                <a:latin typeface="Helvetica Neue"/>
                <a:ea typeface="PingFang SC"/>
              </a:rPr>
              <a:t>用一套哲学，打透 Apple 全平台。</a:t>
            </a:r>
          </a:p>
        </p:txBody>
      </p:sp>
      <p:pic>
        <p:nvPicPr>
          <p:cNvPr id="4" name="Picture 3" descr="chargepi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4709160"/>
            <a:ext cx="749808" cy="749808"/>
          </a:xfrm>
          <a:prstGeom prst="rect">
            <a:avLst/>
          </a:prstGeom>
        </p:spPr>
      </p:pic>
      <p:pic>
        <p:nvPicPr>
          <p:cNvPr id="5" name="Picture 4" descr="server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568" y="4709160"/>
            <a:ext cx="749808" cy="749808"/>
          </a:xfrm>
          <a:prstGeom prst="rect">
            <a:avLst/>
          </a:prstGeom>
        </p:spPr>
      </p:pic>
      <p:pic>
        <p:nvPicPr>
          <p:cNvPr id="6" name="Picture 5" descr="tune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4709160"/>
            <a:ext cx="749808" cy="749808"/>
          </a:xfrm>
          <a:prstGeom prst="rect">
            <a:avLst/>
          </a:prstGeom>
        </p:spPr>
      </p:pic>
      <p:pic>
        <p:nvPicPr>
          <p:cNvPr id="7" name="Picture 6" descr="minuteflo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4709160"/>
            <a:ext cx="749808" cy="749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spc="120">
                <a:solidFill>
                  <a:srgbClr val="86868B"/>
                </a:solidFill>
                <a:latin typeface="Helvetica Neue"/>
                <a:ea typeface="PingFang SC"/>
              </a:rPr>
              <a:t>VibeForge · 2026.08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